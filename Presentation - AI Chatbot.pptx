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adley" charset="1" panose="00000500000000000000"/>
      <p:regular r:id="rId17"/>
    </p:embeddedFont>
    <p:embeddedFont>
      <p:font typeface="Radley Italics" charset="1" panose="00000500000000000000"/>
      <p:regular r:id="rId18"/>
    </p:embeddedFont>
    <p:embeddedFont>
      <p:font typeface="Carlito" charset="1" panose="020F0502020204030204"/>
      <p:regular r:id="rId19"/>
    </p:embeddedFont>
    <p:embeddedFont>
      <p:font typeface="Archivo Black" charset="1" panose="020B0A03020202020B04"/>
      <p:regular r:id="rId20"/>
    </p:embeddedFont>
    <p:embeddedFont>
      <p:font typeface="Carlito Bold" charset="1" panose="020F0502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6375" y="3352800"/>
            <a:ext cx="8324850" cy="6934200"/>
            <a:chOff x="0" y="0"/>
            <a:chExt cx="1289737" cy="1074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074289"/>
            </a:xfrm>
            <a:custGeom>
              <a:avLst/>
              <a:gdLst/>
              <a:ahLst/>
              <a:cxnLst/>
              <a:rect r="r" b="b" t="t" l="l"/>
              <a:pathLst>
                <a:path h="1074289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074289"/>
                  </a:lnTo>
                  <a:lnTo>
                    <a:pt x="0" y="1074289"/>
                  </a:lnTo>
                  <a:close/>
                </a:path>
              </a:pathLst>
            </a:custGeom>
            <a:blipFill>
              <a:blip r:embed="rId2"/>
              <a:stretch>
                <a:fillRect l="-329" t="0" r="-32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457662"/>
            <a:ext cx="15883882" cy="2537020"/>
            <a:chOff x="0" y="0"/>
            <a:chExt cx="21178510" cy="3382693"/>
          </a:xfrm>
        </p:grpSpPr>
        <p:sp>
          <p:nvSpPr>
            <p:cNvPr name="AutoShape 5" id="5"/>
            <p:cNvSpPr/>
            <p:nvPr/>
          </p:nvSpPr>
          <p:spPr>
            <a:xfrm>
              <a:off x="0" y="1761629"/>
              <a:ext cx="21178510" cy="0"/>
            </a:xfrm>
            <a:prstGeom prst="line">
              <a:avLst/>
            </a:prstGeom>
            <a:ln cap="flat" w="15512">
              <a:solidFill>
                <a:srgbClr val="ADE8F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21178510" cy="3211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132"/>
                </a:lnSpc>
              </a:pPr>
              <a:r>
                <a:rPr lang="en-US" sz="9132" spc="-182" u="none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AI Chatbot for Social Engineering Attack Detection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983961" y="7073902"/>
            <a:ext cx="5013647" cy="286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39"/>
              </a:lnSpc>
            </a:pPr>
            <a:r>
              <a:rPr lang="en-US" sz="4099" spc="545">
                <a:solidFill>
                  <a:srgbClr val="ADE8F4"/>
                </a:solidFill>
                <a:latin typeface="Radley"/>
                <a:ea typeface="Radley"/>
                <a:cs typeface="Radley"/>
                <a:sym typeface="Radley"/>
              </a:rPr>
              <a:t>SUBMITTED TO:</a:t>
            </a:r>
          </a:p>
          <a:p>
            <a:pPr algn="r" marL="0" indent="0" lvl="0">
              <a:lnSpc>
                <a:spcPts val="5739"/>
              </a:lnSpc>
              <a:spcBef>
                <a:spcPct val="0"/>
              </a:spcBef>
            </a:pPr>
            <a:r>
              <a:rPr lang="en-US" sz="4099" spc="545">
                <a:solidFill>
                  <a:srgbClr val="ADE8F4"/>
                </a:solidFill>
                <a:latin typeface="Radley"/>
                <a:ea typeface="Radley"/>
                <a:cs typeface="Radley"/>
                <a:sym typeface="Radley"/>
              </a:rPr>
              <a:t>SIR HUZAIFA NAZIR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0890" y="7978777"/>
            <a:ext cx="5345856" cy="127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99"/>
              </a:lnSpc>
            </a:pPr>
            <a:r>
              <a:rPr lang="en-US" sz="4999" i="true">
                <a:solidFill>
                  <a:srgbClr val="ADE8F4"/>
                </a:solidFill>
                <a:latin typeface="Radley Italics"/>
                <a:ea typeface="Radley Italics"/>
                <a:cs typeface="Radley Italics"/>
                <a:sym typeface="Radley Italics"/>
              </a:rPr>
              <a:t>Khadija Tul Kubra (BITF22M025)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217429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7429" cy="1593725"/>
            </a:xfrm>
            <a:custGeom>
              <a:avLst/>
              <a:gdLst/>
              <a:ahLst/>
              <a:cxnLst/>
              <a:rect r="r" b="b" t="t" l="l"/>
              <a:pathLst>
                <a:path h="1593725" w="1217429">
                  <a:moveTo>
                    <a:pt x="0" y="0"/>
                  </a:moveTo>
                  <a:lnTo>
                    <a:pt x="1217429" y="0"/>
                  </a:lnTo>
                  <a:lnTo>
                    <a:pt x="121742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55" r="0" b="-2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0"/>
            <a:ext cx="7230865" cy="9639300"/>
            <a:chOff x="0" y="0"/>
            <a:chExt cx="9641153" cy="128524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26326" y="57150"/>
              <a:ext cx="9614826" cy="2679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40"/>
                </a:lnSpc>
                <a:spcBef>
                  <a:spcPct val="0"/>
                </a:spcBef>
              </a:pPr>
              <a:r>
                <a:rPr lang="en-US" sz="7000" i="true">
                  <a:solidFill>
                    <a:srgbClr val="ADE8F4"/>
                  </a:solidFill>
                  <a:latin typeface="Radley Italics"/>
                  <a:ea typeface="Radley Italics"/>
                  <a:cs typeface="Radley Italics"/>
                  <a:sym typeface="Radley Italics"/>
                </a:rPr>
                <a:t>Problem Statement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26326" y="3708400"/>
              <a:ext cx="9614826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3499" u="none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Understanding the Urgent Need for Social Engineering Attack Detection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0" y="3222414"/>
              <a:ext cx="9614826" cy="0"/>
            </a:xfrm>
            <a:prstGeom prst="line">
              <a:avLst/>
            </a:prstGeom>
            <a:ln cap="flat" w="25400">
              <a:solidFill>
                <a:srgbClr val="ADE8F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26326" y="5778500"/>
              <a:ext cx="9588500" cy="7073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04516" indent="-302258" lvl="1">
                <a:lnSpc>
                  <a:spcPts val="3359"/>
                </a:lnSpc>
                <a:buFont typeface="Arial"/>
                <a:buChar char="•"/>
              </a:pPr>
              <a:r>
                <a:rPr lang="en-US" sz="2799" u="sng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The Core Problem:</a:t>
              </a:r>
              <a:r>
                <a:rPr lang="en-US" sz="2799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 Social Engineering (SE), primarily Phishing (email) and Smishing (SMS), remains the #1 security threat, exploiting human trust.</a:t>
              </a:r>
            </a:p>
            <a:p>
              <a:pPr algn="just" marL="604516" indent="-302258" lvl="1">
                <a:lnSpc>
                  <a:spcPts val="3359"/>
                </a:lnSpc>
                <a:buFont typeface="Arial"/>
                <a:buChar char="•"/>
              </a:pPr>
              <a:r>
                <a:rPr lang="en-US" sz="2799" u="sng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Impact:</a:t>
              </a:r>
              <a:r>
                <a:rPr lang="en-US" sz="2799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 Leads to massive data breaches, identity theft, and significant financial loss.</a:t>
              </a:r>
            </a:p>
            <a:p>
              <a:pPr algn="just" marL="604516" indent="-302258" lvl="1">
                <a:lnSpc>
                  <a:spcPts val="3359"/>
                </a:lnSpc>
                <a:buFont typeface="Arial"/>
                <a:buChar char="•"/>
              </a:pPr>
              <a:r>
                <a:rPr lang="en-US" sz="2799" u="sng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The Challenge:</a:t>
              </a:r>
              <a:r>
                <a:rPr lang="en-US" sz="2799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 SE messages are crafted using urgent or emotional language, making them difficult to detect manually.</a:t>
              </a:r>
            </a:p>
            <a:p>
              <a:pPr algn="just" marL="539748" indent="-269874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Need: An automated, real-time mechanism is required to filter out malicious text.</a:t>
              </a:r>
            </a:p>
            <a:p>
              <a:pPr algn="just" marL="539748" indent="-269874" lvl="1">
                <a:lnSpc>
                  <a:spcPts val="2999"/>
                </a:lnSpc>
                <a:buFont typeface="Arial"/>
                <a:buChar char="•"/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57165" y="9258300"/>
            <a:ext cx="2171730" cy="2205796"/>
            <a:chOff x="0" y="0"/>
            <a:chExt cx="812800" cy="825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ADE8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4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325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14305" y="345581"/>
            <a:ext cx="7139020" cy="3753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92"/>
              </a:lnSpc>
              <a:spcBef>
                <a:spcPct val="0"/>
              </a:spcBef>
            </a:pPr>
            <a:r>
              <a:rPr lang="en-US" sz="6600">
                <a:solidFill>
                  <a:srgbClr val="ADE8F4"/>
                </a:solidFill>
                <a:latin typeface="Radley"/>
                <a:ea typeface="Radley"/>
                <a:cs typeface="Radley"/>
                <a:sym typeface="Radley"/>
              </a:rPr>
              <a:t>A Full Stack AI Chatbot designed for real-time text classification.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0" y="7391173"/>
            <a:ext cx="5753100" cy="2675890"/>
            <a:chOff x="0" y="0"/>
            <a:chExt cx="7670800" cy="356785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7670800" cy="30158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19"/>
                </a:lnSpc>
              </a:pPr>
              <a:r>
                <a:rPr lang="en-US" sz="3299" u="sng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Technology Foundation:</a:t>
              </a:r>
              <a:r>
                <a:rPr lang="en-US" sz="3299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 NLP techniques driven by a Machine Learning model.</a:t>
              </a:r>
            </a:p>
            <a:p>
              <a:pPr algn="l" marL="0" indent="0" lvl="0">
                <a:lnSpc>
                  <a:spcPts val="4339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133514"/>
              <a:ext cx="7670800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ADE8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4305" y="3875087"/>
            <a:ext cx="6636659" cy="6118225"/>
            <a:chOff x="0" y="0"/>
            <a:chExt cx="8848879" cy="815763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76200"/>
              <a:ext cx="8848879" cy="7605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19"/>
                </a:lnSpc>
              </a:pPr>
            </a:p>
            <a:p>
              <a:pPr algn="l" marL="712465" indent="-356233" lvl="1">
                <a:lnSpc>
                  <a:spcPts val="4619"/>
                </a:lnSpc>
                <a:buFont typeface="Arial"/>
                <a:buChar char="•"/>
              </a:pPr>
              <a:r>
                <a:rPr lang="en-US" sz="3299" u="sng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Functionality</a:t>
              </a:r>
              <a:r>
                <a:rPr lang="en-US" sz="3299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: Takes user message input and immediately classifies it as 'Safe' (HAM) or 'Unsafe' (SPAM/Attack).</a:t>
              </a:r>
            </a:p>
            <a:p>
              <a:pPr algn="l" marL="712465" indent="-356233" lvl="1">
                <a:lnSpc>
                  <a:spcPts val="4619"/>
                </a:lnSpc>
                <a:buFont typeface="Arial"/>
                <a:buChar char="•"/>
              </a:pPr>
              <a:r>
                <a:rPr lang="en-US" sz="3299" u="sng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Key Advantage:</a:t>
              </a:r>
              <a:r>
                <a:rPr lang="en-US" sz="3299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 Provides a proactive defense mechanism directly accessible to the end-user.</a:t>
              </a:r>
            </a:p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723294"/>
              <a:ext cx="8848879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-315557"/>
            <a:ext cx="7553325" cy="6934200"/>
            <a:chOff x="0" y="0"/>
            <a:chExt cx="2442972" cy="2242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972" cy="2242728"/>
            </a:xfrm>
            <a:custGeom>
              <a:avLst/>
              <a:gdLst/>
              <a:ahLst/>
              <a:cxnLst/>
              <a:rect r="r" b="b" t="t" l="l"/>
              <a:pathLst>
                <a:path h="2242728" w="2442972">
                  <a:moveTo>
                    <a:pt x="0" y="0"/>
                  </a:moveTo>
                  <a:lnTo>
                    <a:pt x="2442972" y="0"/>
                  </a:lnTo>
                  <a:lnTo>
                    <a:pt x="2442972" y="2242728"/>
                  </a:lnTo>
                  <a:lnTo>
                    <a:pt x="0" y="2242728"/>
                  </a:lnTo>
                  <a:close/>
                </a:path>
              </a:pathLst>
            </a:custGeom>
            <a:blipFill>
              <a:blip r:embed="rId2"/>
              <a:stretch>
                <a:fillRect l="-234" t="0" r="-23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5721985"/>
            <a:ext cx="9296400" cy="5143500"/>
            <a:chOff x="0" y="0"/>
            <a:chExt cx="3882322" cy="21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82322" cy="2148006"/>
            </a:xfrm>
            <a:custGeom>
              <a:avLst/>
              <a:gdLst/>
              <a:ahLst/>
              <a:cxnLst/>
              <a:rect r="r" b="b" t="t" l="l"/>
              <a:pathLst>
                <a:path h="2148006" w="3882322">
                  <a:moveTo>
                    <a:pt x="0" y="0"/>
                  </a:moveTo>
                  <a:lnTo>
                    <a:pt x="3882322" y="0"/>
                  </a:lnTo>
                  <a:lnTo>
                    <a:pt x="3882322" y="2148006"/>
                  </a:lnTo>
                  <a:lnTo>
                    <a:pt x="0" y="2148006"/>
                  </a:lnTo>
                  <a:close/>
                </a:path>
              </a:pathLst>
            </a:custGeom>
            <a:blipFill>
              <a:blip r:embed="rId3"/>
              <a:stretch>
                <a:fillRect l="-527" t="0" r="-52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57150"/>
            <a:ext cx="8629650" cy="1995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ADE8F4"/>
                </a:solidFill>
                <a:latin typeface="Radley"/>
                <a:ea typeface="Radley"/>
                <a:cs typeface="Radley"/>
                <a:sym typeface="Radley"/>
              </a:rPr>
              <a:t>System Architecture (3-Tier Structure)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2714630"/>
            <a:ext cx="8629650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ADE8F4"/>
                </a:solidFill>
                <a:latin typeface="Archivo Black"/>
                <a:ea typeface="Archivo Black"/>
                <a:cs typeface="Archivo Black"/>
                <a:sym typeface="Archivo Black"/>
              </a:rPr>
              <a:t>Tier 1: Frontend (Next.js)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3789050"/>
            <a:ext cx="8629650" cy="197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ADE8F4"/>
                </a:solidFill>
                <a:latin typeface="Carlito"/>
                <a:ea typeface="Carlito"/>
                <a:cs typeface="Carlito"/>
                <a:sym typeface="Carlito"/>
              </a:rPr>
              <a:t>Interactive chat interface for user input.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ADE8F4"/>
                </a:solidFill>
                <a:latin typeface="Carlito"/>
                <a:ea typeface="Carlito"/>
                <a:cs typeface="Carlito"/>
                <a:sym typeface="Carlito"/>
              </a:rPr>
              <a:t>Sends user messages to the API via asynchronous requests.</a:t>
            </a:r>
          </a:p>
          <a:p>
            <a:pPr algn="l" marL="0" indent="0" lvl="0">
              <a:lnSpc>
                <a:spcPts val="279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0734675" y="6902644"/>
            <a:ext cx="6781800" cy="3665221"/>
            <a:chOff x="0" y="0"/>
            <a:chExt cx="9042400" cy="488696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9042400" cy="129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ADE8F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Tier 2: Backend (FastAPI)</a:t>
              </a:r>
            </a:p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81760"/>
              <a:ext cx="9042400" cy="3505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High-performance Python API server.</a:t>
              </a:r>
            </a:p>
            <a:p>
              <a:pPr algn="l"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Hosts the /predict endpoint.</a:t>
              </a:r>
            </a:p>
            <a:p>
              <a:pPr algn="l"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Loads and manages the pre-trained ML model.</a:t>
              </a:r>
            </a:p>
            <a:p>
              <a:pPr algn="l" marL="0" indent="0" lvl="0">
                <a:lnSpc>
                  <a:spcPts val="419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74073" y="0"/>
            <a:ext cx="9296400" cy="5143500"/>
            <a:chOff x="0" y="0"/>
            <a:chExt cx="3882322" cy="2148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82322" cy="2148006"/>
            </a:xfrm>
            <a:custGeom>
              <a:avLst/>
              <a:gdLst/>
              <a:ahLst/>
              <a:cxnLst/>
              <a:rect r="r" b="b" t="t" l="l"/>
              <a:pathLst>
                <a:path h="2148006" w="3882322">
                  <a:moveTo>
                    <a:pt x="0" y="0"/>
                  </a:moveTo>
                  <a:lnTo>
                    <a:pt x="3882322" y="0"/>
                  </a:lnTo>
                  <a:lnTo>
                    <a:pt x="3882322" y="2148006"/>
                  </a:lnTo>
                  <a:lnTo>
                    <a:pt x="0" y="2148006"/>
                  </a:lnTo>
                  <a:close/>
                </a:path>
              </a:pathLst>
            </a:custGeom>
            <a:blipFill>
              <a:blip r:embed="rId2"/>
              <a:stretch>
                <a:fillRect l="-4463" t="0" r="-446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82461" y="5998370"/>
            <a:ext cx="12183224" cy="4045664"/>
          </a:xfrm>
          <a:custGeom>
            <a:avLst/>
            <a:gdLst/>
            <a:ahLst/>
            <a:cxnLst/>
            <a:rect r="r" b="b" t="t" l="l"/>
            <a:pathLst>
              <a:path h="4045664" w="12183224">
                <a:moveTo>
                  <a:pt x="0" y="0"/>
                </a:moveTo>
                <a:lnTo>
                  <a:pt x="12183224" y="0"/>
                </a:lnTo>
                <a:lnTo>
                  <a:pt x="12183224" y="4045664"/>
                </a:lnTo>
                <a:lnTo>
                  <a:pt x="0" y="404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44" t="0" r="-1644" b="-4367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225423"/>
            <a:ext cx="8629650" cy="5705480"/>
            <a:chOff x="0" y="0"/>
            <a:chExt cx="11506200" cy="760730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7625"/>
              <a:ext cx="11506200" cy="2399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32"/>
                </a:lnSpc>
              </a:pPr>
              <a:r>
                <a:rPr lang="en-US" sz="6100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System Architecture</a:t>
              </a:r>
            </a:p>
            <a:p>
              <a:pPr algn="l" marL="0" indent="0" lvl="0">
                <a:lnSpc>
                  <a:spcPts val="7168"/>
                </a:lnSpc>
                <a:spcBef>
                  <a:spcPct val="0"/>
                </a:spcBef>
              </a:pPr>
              <a:r>
                <a:rPr lang="en-US" sz="6400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 (3-Tier Structure)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352171"/>
              <a:ext cx="11506200" cy="129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ADE8F4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Tier 3: ML Layer (Scikit-learn)</a:t>
              </a:r>
            </a:p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800606"/>
              <a:ext cx="11506200" cy="2806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Core prediction engine.</a:t>
              </a:r>
            </a:p>
            <a:p>
              <a:pPr algn="l"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Processes the text and returns the classification result.</a:t>
              </a:r>
            </a:p>
            <a:p>
              <a:pPr algn="l" marL="0" indent="0" lvl="0">
                <a:lnSpc>
                  <a:spcPts val="419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71655" y="0"/>
            <a:ext cx="7858125" cy="10287000"/>
            <a:chOff x="0" y="0"/>
            <a:chExt cx="1217429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7429" cy="1593725"/>
            </a:xfrm>
            <a:custGeom>
              <a:avLst/>
              <a:gdLst/>
              <a:ahLst/>
              <a:cxnLst/>
              <a:rect r="r" b="b" t="t" l="l"/>
              <a:pathLst>
                <a:path h="1593725" w="1217429">
                  <a:moveTo>
                    <a:pt x="0" y="0"/>
                  </a:moveTo>
                  <a:lnTo>
                    <a:pt x="1217429" y="0"/>
                  </a:lnTo>
                  <a:lnTo>
                    <a:pt x="121742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55" r="0" b="-2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9664" y="224975"/>
            <a:ext cx="10260211" cy="9515475"/>
            <a:chOff x="0" y="0"/>
            <a:chExt cx="13680281" cy="126873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37356" y="57150"/>
              <a:ext cx="13642925" cy="1358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40"/>
                </a:lnSpc>
                <a:spcBef>
                  <a:spcPct val="0"/>
                </a:spcBef>
              </a:pPr>
              <a:r>
                <a:rPr lang="en-US" sz="7000" i="true">
                  <a:solidFill>
                    <a:srgbClr val="ADE8F4"/>
                  </a:solidFill>
                  <a:latin typeface="Radley Italics"/>
                  <a:ea typeface="Radley Italics"/>
                  <a:cs typeface="Radley Italics"/>
                  <a:sym typeface="Radley Italics"/>
                </a:rPr>
                <a:t>Data &amp; NLP Pipeline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7356" y="3708400"/>
              <a:ext cx="13642925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3499" u="none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Understanding TF-IDF Vectorization for Effective Model Training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0" y="3222414"/>
              <a:ext cx="13642925" cy="0"/>
            </a:xfrm>
            <a:prstGeom prst="line">
              <a:avLst/>
            </a:prstGeom>
            <a:ln cap="flat" w="25400">
              <a:solidFill>
                <a:srgbClr val="ADE8F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37356" y="6419850"/>
              <a:ext cx="13605569" cy="6267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2927" indent="-291463" lvl="1">
                <a:lnSpc>
                  <a:spcPts val="3239"/>
                </a:lnSpc>
                <a:buFont typeface="Arial"/>
                <a:buChar char="•"/>
              </a:pPr>
              <a:r>
                <a:rPr lang="en-US" sz="2699" u="sng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Dataset Source: </a:t>
              </a:r>
              <a:r>
                <a:rPr lang="en-US" sz="2699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Kaggle SMS Spam Collection.</a:t>
              </a:r>
            </a:p>
            <a:p>
              <a:pPr algn="l" marL="604516" indent="-302258" lvl="1">
                <a:lnSpc>
                  <a:spcPts val="3359"/>
                </a:lnSpc>
                <a:buFont typeface="Arial"/>
                <a:buChar char="•"/>
              </a:pPr>
              <a:r>
                <a:rPr lang="en-US" sz="2799" u="sng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Data Preparation &amp; Manipulation:</a:t>
              </a:r>
            </a:p>
            <a:p>
              <a:pPr algn="l" marL="1079496" indent="-359832" lvl="2">
                <a:lnSpc>
                  <a:spcPts val="2999"/>
                </a:lnSpc>
                <a:buFont typeface="Arial"/>
                <a:buChar char="⚬"/>
              </a:pPr>
              <a:r>
                <a:rPr lang="en-US" sz="2499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Rigorous Text Cleaning (removing stopwords, punctuation, and lowercasing).</a:t>
              </a:r>
            </a:p>
            <a:p>
              <a:pPr algn="l" marL="1079496" indent="-359832" lvl="2">
                <a:lnSpc>
                  <a:spcPts val="2999"/>
                </a:lnSpc>
                <a:buFont typeface="Arial"/>
                <a:buChar char="⚬"/>
              </a:pPr>
              <a:r>
                <a:rPr lang="en-US" sz="2499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Synthetic Augmentation used to enrich the dataset with modern social engineering phrases.</a:t>
              </a:r>
            </a:p>
            <a:p>
              <a:pPr algn="l" marL="1079496" indent="-359832" lvl="2">
                <a:lnSpc>
                  <a:spcPts val="2999"/>
                </a:lnSpc>
                <a:buFont typeface="Arial"/>
                <a:buChar char="⚬"/>
              </a:pPr>
              <a:r>
                <a:rPr lang="en-US" sz="2499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Labels interpreted as 'Safe' and 'Unsafe'.</a:t>
              </a:r>
            </a:p>
            <a:p>
              <a:pPr algn="l" marL="604516" indent="-302258" lvl="1">
                <a:lnSpc>
                  <a:spcPts val="3359"/>
                </a:lnSpc>
                <a:buFont typeface="Arial"/>
                <a:buChar char="•"/>
              </a:pPr>
              <a:r>
                <a:rPr lang="en-US" sz="2799" u="sng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Vectorization (TF-IDF):</a:t>
              </a:r>
            </a:p>
            <a:p>
              <a:pPr algn="l" marL="1079496" indent="-359832" lvl="2">
                <a:lnSpc>
                  <a:spcPts val="2999"/>
                </a:lnSpc>
                <a:buFont typeface="Arial"/>
                <a:buChar char="⚬"/>
              </a:pPr>
              <a:r>
                <a:rPr lang="en-US" sz="2499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Converts cleaned text into numerical vectors.</a:t>
              </a:r>
            </a:p>
            <a:p>
              <a:pPr algn="l" marL="1079496" indent="-359832" lvl="2">
                <a:lnSpc>
                  <a:spcPts val="2999"/>
                </a:lnSpc>
                <a:buFont typeface="Arial"/>
                <a:buChar char="⚬"/>
              </a:pPr>
              <a:r>
                <a:rPr lang="en-US" sz="2499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TF-IDF assigns higher weights to terms that are frequent in 'Unsafe' messages but rare across all messages (e.g., 'urgent', 'account lock').</a:t>
              </a:r>
            </a:p>
            <a:p>
              <a:pPr algn="l" marL="0" indent="0" lvl="0">
                <a:lnSpc>
                  <a:spcPts val="34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19115" y="9184102"/>
            <a:ext cx="2171730" cy="2205796"/>
            <a:chOff x="0" y="0"/>
            <a:chExt cx="812800" cy="825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ADE8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4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65310" y="-347113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14305" y="367262"/>
            <a:ext cx="6639189" cy="246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6"/>
              </a:lnSpc>
              <a:spcBef>
                <a:spcPct val="0"/>
              </a:spcBef>
            </a:pPr>
            <a:r>
              <a:rPr lang="en-US" sz="5800">
                <a:solidFill>
                  <a:srgbClr val="ADE8F4"/>
                </a:solidFill>
                <a:latin typeface="Radley"/>
                <a:ea typeface="Radley"/>
                <a:cs typeface="Radley"/>
                <a:sym typeface="Radley"/>
              </a:rPr>
              <a:t>Logistic Regression and Rule-based Auto Labelling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ADE8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542" y="3419475"/>
            <a:ext cx="7524783" cy="5814695"/>
            <a:chOff x="0" y="0"/>
            <a:chExt cx="10033044" cy="775292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10033044" cy="7191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76" indent="-345438" lvl="1">
                <a:lnSpc>
                  <a:spcPts val="4479"/>
                </a:lnSpc>
                <a:buFont typeface="Arial"/>
                <a:buChar char="•"/>
              </a:pPr>
              <a:r>
                <a:rPr lang="en-US" sz="3199" u="sng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Model Selected:</a:t>
              </a:r>
              <a:r>
                <a:rPr lang="en-US" sz="3199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 Logistic Regression (LR).</a:t>
              </a:r>
            </a:p>
            <a:p>
              <a:pPr algn="l" marL="669286" indent="-334643" lvl="1">
                <a:lnSpc>
                  <a:spcPts val="4339"/>
                </a:lnSpc>
                <a:buFont typeface="Arial"/>
                <a:buChar char="•"/>
              </a:pPr>
              <a:r>
                <a:rPr lang="en-US" sz="3099" u="sng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Rationale for LR:</a:t>
              </a:r>
            </a:p>
            <a:p>
              <a:pPr algn="l" marL="1338572" indent="-446191" lvl="2">
                <a:lnSpc>
                  <a:spcPts val="4339"/>
                </a:lnSpc>
                <a:buFont typeface="Arial"/>
                <a:buChar char="⚬"/>
              </a:pPr>
              <a:r>
                <a:rPr lang="en-US" sz="3099" u="sng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Efficiency: </a:t>
              </a:r>
              <a:r>
                <a:rPr lang="en-US" sz="3099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Extremely fast training and prediction time, ideal for real-time API response.</a:t>
              </a:r>
            </a:p>
            <a:p>
              <a:pPr algn="l" marL="1338572" indent="-446191" lvl="2">
                <a:lnSpc>
                  <a:spcPts val="4339"/>
                </a:lnSpc>
                <a:buFont typeface="Arial"/>
                <a:buChar char="⚬"/>
              </a:pPr>
              <a:r>
                <a:rPr lang="en-US" sz="3099" u="sng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Simplicity:</a:t>
              </a:r>
              <a:r>
                <a:rPr lang="en-US" sz="3099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 Provides a strong, easily interpretable baseline performance for linear classification problems.</a:t>
              </a:r>
            </a:p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318587"/>
              <a:ext cx="10033044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93785" y="6803390"/>
            <a:ext cx="10994215" cy="3799840"/>
            <a:chOff x="0" y="0"/>
            <a:chExt cx="14658953" cy="506645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76200"/>
              <a:ext cx="14658953" cy="4514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12465" indent="-356233" lvl="1">
                <a:lnSpc>
                  <a:spcPts val="4619"/>
                </a:lnSpc>
                <a:buFont typeface="Arial"/>
                <a:buChar char="•"/>
              </a:pPr>
              <a:r>
                <a:rPr lang="en-US" sz="3299" u="sng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Model Enhancements: </a:t>
              </a:r>
              <a:r>
                <a:rPr lang="en-US" sz="3299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  </a:t>
              </a:r>
              <a:r>
                <a:rPr lang="en-US" sz="3299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Rule-based Auto Labelling: Implemented secondary rules to instantly flag highly suspicious inputs (e.g., specific URLs or known OTP request patterns) to boost precision.</a:t>
              </a:r>
            </a:p>
            <a:p>
              <a:pPr algn="l" marL="669286" indent="-334643" lvl="1">
                <a:lnSpc>
                  <a:spcPts val="43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99" u="sng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Tools: </a:t>
              </a:r>
              <a:r>
                <a:rPr lang="en-US" sz="3099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Model and Vectorizer saved using joblib (or pickle) and loaded in FastAPI.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632114"/>
              <a:ext cx="14658953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23900"/>
            <a:ext cx="16954500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ADE8F4"/>
                </a:solidFill>
                <a:latin typeface="Radley"/>
                <a:ea typeface="Radley"/>
                <a:cs typeface="Radley"/>
                <a:sym typeface="Radley"/>
              </a:rPr>
              <a:t>Key Features of the Chatbot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3352800"/>
            <a:ext cx="3476954" cy="1405603"/>
            <a:chOff x="0" y="0"/>
            <a:chExt cx="4635939" cy="187413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4635939" cy="613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8"/>
                </a:lnSpc>
                <a:spcBef>
                  <a:spcPct val="0"/>
                </a:spcBef>
              </a:pPr>
              <a:r>
                <a:rPr lang="en-US" sz="2805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Real-time Prediction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11004"/>
              <a:ext cx="4635939" cy="13631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24"/>
                </a:lnSpc>
              </a:pPr>
              <a:r>
                <a:rPr lang="en-US" sz="2874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Instant classification of incoming messages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3352800"/>
            <a:ext cx="3697844" cy="1462617"/>
            <a:chOff x="0" y="0"/>
            <a:chExt cx="4930459" cy="195015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4930459" cy="613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8"/>
                </a:lnSpc>
                <a:spcBef>
                  <a:spcPct val="0"/>
                </a:spcBef>
              </a:pPr>
              <a:r>
                <a:rPr lang="en-US" sz="2805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Chat History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87022"/>
              <a:ext cx="4930459" cy="13631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24"/>
                </a:lnSpc>
                <a:spcBef>
                  <a:spcPct val="0"/>
                </a:spcBef>
              </a:pPr>
              <a:r>
                <a:rPr lang="en-US" sz="2874" strike="noStrike" u="none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Stores logs for user transparency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676775" y="3352800"/>
            <a:ext cx="4162425" cy="1405603"/>
            <a:chOff x="0" y="0"/>
            <a:chExt cx="5549900" cy="187413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5549900" cy="613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8"/>
                </a:lnSpc>
                <a:spcBef>
                  <a:spcPct val="0"/>
                </a:spcBef>
              </a:pPr>
              <a:r>
                <a:rPr lang="en-US" sz="2805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Safe/Unsafe Classification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511004"/>
              <a:ext cx="5549900" cy="13631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24"/>
                </a:lnSpc>
                <a:spcBef>
                  <a:spcPct val="0"/>
                </a:spcBef>
              </a:pPr>
              <a:r>
                <a:rPr lang="en-US" sz="2874" strike="noStrike" u="none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Clear indication of message status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4922520"/>
            <a:ext cx="4010025" cy="4697730"/>
            <a:chOff x="0" y="0"/>
            <a:chExt cx="1391532" cy="16301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1532" cy="1630175"/>
            </a:xfrm>
            <a:custGeom>
              <a:avLst/>
              <a:gdLst/>
              <a:ahLst/>
              <a:cxnLst/>
              <a:rect r="r" b="b" t="t" l="l"/>
              <a:pathLst>
                <a:path h="1630175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2"/>
              <a:stretch>
                <a:fillRect l="0" t="-138" r="0" b="-13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81575" y="4922520"/>
            <a:ext cx="4010025" cy="4697730"/>
            <a:chOff x="0" y="0"/>
            <a:chExt cx="1391532" cy="16301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1532" cy="1630175"/>
            </a:xfrm>
            <a:custGeom>
              <a:avLst/>
              <a:gdLst/>
              <a:ahLst/>
              <a:cxnLst/>
              <a:rect r="r" b="b" t="t" l="l"/>
              <a:pathLst>
                <a:path h="1630175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3"/>
              <a:stretch>
                <a:fillRect l="0" t="-138" r="0" b="-13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66750" y="4922520"/>
            <a:ext cx="4010025" cy="4697730"/>
            <a:chOff x="0" y="0"/>
            <a:chExt cx="879848" cy="10307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9848" cy="1030739"/>
            </a:xfrm>
            <a:custGeom>
              <a:avLst/>
              <a:gdLst/>
              <a:ahLst/>
              <a:cxnLst/>
              <a:rect r="r" b="b" t="t" l="l"/>
              <a:pathLst>
                <a:path h="1030739" w="879848">
                  <a:moveTo>
                    <a:pt x="0" y="0"/>
                  </a:moveTo>
                  <a:lnTo>
                    <a:pt x="879848" y="0"/>
                  </a:lnTo>
                  <a:lnTo>
                    <a:pt x="879848" y="1030739"/>
                  </a:lnTo>
                  <a:lnTo>
                    <a:pt x="0" y="1030739"/>
                  </a:lnTo>
                  <a:close/>
                </a:path>
              </a:pathLst>
            </a:custGeom>
            <a:blipFill>
              <a:blip r:embed="rId4"/>
              <a:stretch>
                <a:fillRect l="0" t="-138" r="0" b="-138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611554" y="4922520"/>
            <a:ext cx="4010025" cy="4697730"/>
            <a:chOff x="0" y="0"/>
            <a:chExt cx="1391532" cy="16301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1532" cy="1630175"/>
            </a:xfrm>
            <a:custGeom>
              <a:avLst/>
              <a:gdLst/>
              <a:ahLst/>
              <a:cxnLst/>
              <a:rect r="r" b="b" t="t" l="l"/>
              <a:pathLst>
                <a:path h="1630175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5"/>
              <a:stretch>
                <a:fillRect l="0" t="-138" r="0" b="-138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611554" y="3352800"/>
            <a:ext cx="4010025" cy="1462617"/>
            <a:chOff x="0" y="0"/>
            <a:chExt cx="5346700" cy="1950156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47625"/>
              <a:ext cx="5346700" cy="613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8"/>
                </a:lnSpc>
                <a:spcBef>
                  <a:spcPct val="0"/>
                </a:spcBef>
              </a:pPr>
              <a:r>
                <a:rPr lang="en-US" sz="2805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User-Friendly Interface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587022"/>
              <a:ext cx="5346700" cy="13631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24"/>
                </a:lnSpc>
                <a:spcBef>
                  <a:spcPct val="0"/>
                </a:spcBef>
              </a:pPr>
              <a:r>
                <a:rPr lang="en-US" sz="2874" strike="noStrike" u="none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Intuitive design for easy interaction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7998" y="2386026"/>
            <a:ext cx="12698350" cy="6674535"/>
          </a:xfrm>
          <a:custGeom>
            <a:avLst/>
            <a:gdLst/>
            <a:ahLst/>
            <a:cxnLst/>
            <a:rect r="r" b="b" t="t" l="l"/>
            <a:pathLst>
              <a:path h="6674535" w="12698350">
                <a:moveTo>
                  <a:pt x="0" y="0"/>
                </a:moveTo>
                <a:lnTo>
                  <a:pt x="12698349" y="0"/>
                </a:lnTo>
                <a:lnTo>
                  <a:pt x="12698349" y="6674535"/>
                </a:lnTo>
                <a:lnTo>
                  <a:pt x="0" y="6674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236347" y="3168828"/>
            <a:ext cx="4691803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9"/>
              </a:lnSpc>
            </a:pPr>
            <a:r>
              <a:rPr lang="en-US" sz="3499">
                <a:solidFill>
                  <a:srgbClr val="ADE8F4"/>
                </a:solidFill>
                <a:latin typeface="Radley"/>
                <a:ea typeface="Radley"/>
                <a:cs typeface="Radley"/>
                <a:sym typeface="Radley"/>
              </a:rPr>
              <a:t>This shows the scenerios or suspicious texts are detected as unsafe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0225" y="723900"/>
            <a:ext cx="14687550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ADE8F4"/>
                </a:solidFill>
                <a:latin typeface="Radley"/>
                <a:ea typeface="Radley"/>
                <a:cs typeface="Radley"/>
                <a:sym typeface="Radley"/>
              </a:rPr>
              <a:t>Working Demo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4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217429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7429" cy="1593725"/>
            </a:xfrm>
            <a:custGeom>
              <a:avLst/>
              <a:gdLst/>
              <a:ahLst/>
              <a:cxnLst/>
              <a:rect r="r" b="b" t="t" l="l"/>
              <a:pathLst>
                <a:path h="1593725" w="1217429">
                  <a:moveTo>
                    <a:pt x="0" y="0"/>
                  </a:moveTo>
                  <a:lnTo>
                    <a:pt x="1217429" y="0"/>
                  </a:lnTo>
                  <a:lnTo>
                    <a:pt x="121742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55" r="0" b="-2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5"/>
            <a:ext cx="7230865" cy="7829550"/>
            <a:chOff x="0" y="0"/>
            <a:chExt cx="9641153" cy="104394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26326" y="57150"/>
              <a:ext cx="9614826" cy="2679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40"/>
                </a:lnSpc>
                <a:spcBef>
                  <a:spcPct val="0"/>
                </a:spcBef>
              </a:pPr>
              <a:r>
                <a:rPr lang="en-US" sz="7000" i="true">
                  <a:solidFill>
                    <a:srgbClr val="ADE8F4"/>
                  </a:solidFill>
                  <a:latin typeface="Radley Italics"/>
                  <a:ea typeface="Radley Italics"/>
                  <a:cs typeface="Radley Italics"/>
                  <a:sym typeface="Radley Italics"/>
                </a:rPr>
                <a:t>Conclusion &amp; Future Scope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26326" y="3708400"/>
              <a:ext cx="9614826" cy="2095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3499" u="none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Enhancing AI Chatbot Capabilities with Advanced Techniques and Scalability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0" y="3222414"/>
              <a:ext cx="9614826" cy="0"/>
            </a:xfrm>
            <a:prstGeom prst="line">
              <a:avLst/>
            </a:prstGeom>
            <a:ln cap="flat" w="25400">
              <a:solidFill>
                <a:srgbClr val="ADE8F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26326" y="6429375"/>
              <a:ext cx="9588500" cy="4010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499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The project successfully developed an AI chatbot for detecting </a:t>
              </a:r>
              <a:r>
                <a:rPr lang="en-US" b="true" sz="2499">
                  <a:solidFill>
                    <a:srgbClr val="ADE8F4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social engineering</a:t>
              </a:r>
              <a:r>
                <a:rPr lang="en-US" sz="2499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 attacks. Future enhancements include incorporating </a:t>
              </a:r>
              <a:r>
                <a:rPr lang="en-US" b="true" sz="2499">
                  <a:solidFill>
                    <a:srgbClr val="ADE8F4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Deep Learning</a:t>
              </a:r>
              <a:r>
                <a:rPr lang="en-US" sz="2499">
                  <a:solidFill>
                    <a:srgbClr val="ADE8F4"/>
                  </a:solidFill>
                  <a:latin typeface="Carlito"/>
                  <a:ea typeface="Carlito"/>
                  <a:cs typeface="Carlito"/>
                  <a:sym typeface="Carlito"/>
                </a:rPr>
                <a:t> models, like BERT, to improve accuracy and responsiveness. Additionally, scalability improvements will ensure the chatbot can handle larger datasets and extend its detection capabilities to a wider range of social engineering threats.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ADE8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69079"/>
            <a:ext cx="5348842" cy="5348842"/>
          </a:xfrm>
          <a:custGeom>
            <a:avLst/>
            <a:gdLst/>
            <a:ahLst/>
            <a:cxnLst/>
            <a:rect r="r" b="b" t="t" l="l"/>
            <a:pathLst>
              <a:path h="5348842" w="5348842">
                <a:moveTo>
                  <a:pt x="0" y="0"/>
                </a:moveTo>
                <a:lnTo>
                  <a:pt x="5348842" y="0"/>
                </a:lnTo>
                <a:lnTo>
                  <a:pt x="5348842" y="5348842"/>
                </a:lnTo>
                <a:lnTo>
                  <a:pt x="0" y="5348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30333" y="3159601"/>
            <a:ext cx="8324850" cy="3967798"/>
            <a:chOff x="0" y="0"/>
            <a:chExt cx="11099800" cy="529039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49111" y="2611118"/>
              <a:ext cx="11050689" cy="2679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40"/>
                </a:lnSpc>
              </a:pPr>
              <a:r>
                <a:rPr lang="en-US" sz="7000">
                  <a:solidFill>
                    <a:srgbClr val="ADE8F4"/>
                  </a:solidFill>
                  <a:latin typeface="Radley"/>
                  <a:ea typeface="Radley"/>
                  <a:cs typeface="Radley"/>
                  <a:sym typeface="Radley"/>
                </a:rPr>
                <a:t>Feel free to reach out with questions!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4300"/>
              <a:ext cx="11050689" cy="1983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99"/>
                </a:lnSpc>
              </a:pPr>
              <a:r>
                <a:rPr lang="en-US" sz="5699" i="true">
                  <a:solidFill>
                    <a:srgbClr val="ADE8F4"/>
                  </a:solidFill>
                  <a:latin typeface="Radley Italics"/>
                  <a:ea typeface="Radley Italics"/>
                  <a:cs typeface="Radley Italics"/>
                  <a:sym typeface="Radley Italics"/>
                </a:rPr>
                <a:t>Thank You.</a:t>
              </a:r>
            </a:p>
            <a:p>
              <a:pPr algn="l" marL="0" indent="0" lvl="0">
                <a:lnSpc>
                  <a:spcPts val="569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AI Chatbot</dc:description>
  <dc:identifier>DAG44CYoR9k</dc:identifier>
  <dcterms:modified xsi:type="dcterms:W3CDTF">2011-08-01T06:04:30Z</dcterms:modified>
  <cp:revision>1</cp:revision>
  <dc:title>Presentation - AI Chatbot</dc:title>
</cp:coreProperties>
</file>